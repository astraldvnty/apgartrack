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2" r:id="rId4"/>
    <p:sldId id="257" r:id="rId5"/>
    <p:sldId id="259" r:id="rId6"/>
    <p:sldId id="260" r:id="rId7"/>
    <p:sldId id="261" r:id="rId8"/>
    <p:sldId id="263" r:id="rId9"/>
    <p:sldId id="264" r:id="rId10"/>
    <p:sldId id="265" r:id="rId11"/>
    <p:sldId id="281" r:id="rId12"/>
    <p:sldId id="282" r:id="rId13"/>
    <p:sldId id="283" r:id="rId14"/>
    <p:sldId id="284" r:id="rId15"/>
    <p:sldId id="285" r:id="rId16"/>
    <p:sldId id="279" r:id="rId17"/>
    <p:sldId id="266" r:id="rId18"/>
    <p:sldId id="267" r:id="rId19"/>
    <p:sldId id="268" r:id="rId20"/>
    <p:sldId id="269" r:id="rId21"/>
    <p:sldId id="271" r:id="rId22"/>
    <p:sldId id="270" r:id="rId23"/>
    <p:sldId id="286" r:id="rId24"/>
    <p:sldId id="287" r:id="rId25"/>
    <p:sldId id="290" r:id="rId26"/>
    <p:sldId id="280" r:id="rId27"/>
    <p:sldId id="272" r:id="rId28"/>
    <p:sldId id="273" r:id="rId29"/>
    <p:sldId id="274" r:id="rId30"/>
    <p:sldId id="275" r:id="rId31"/>
    <p:sldId id="276" r:id="rId32"/>
    <p:sldId id="277" r:id="rId33"/>
    <p:sldId id="291" r:id="rId34"/>
    <p:sldId id="292" r:id="rId35"/>
    <p:sldId id="293" r:id="rId36"/>
    <p:sldId id="278" r:id="rId3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e Inicial" id="{6F9472FB-0CE4-40B8-9058-1B271C598FEA}">
          <p14:sldIdLst>
            <p14:sldId id="256"/>
            <p14:sldId id="258"/>
            <p14:sldId id="262"/>
          </p14:sldIdLst>
        </p14:section>
        <p14:section name="Eduardo Madeira" id="{01423B75-F7C0-42CF-B9E7-4102F928087B}">
          <p14:sldIdLst>
            <p14:sldId id="257"/>
            <p14:sldId id="259"/>
            <p14:sldId id="260"/>
            <p14:sldId id="261"/>
            <p14:sldId id="263"/>
            <p14:sldId id="264"/>
            <p14:sldId id="265"/>
            <p14:sldId id="281"/>
            <p14:sldId id="282"/>
            <p14:sldId id="283"/>
            <p14:sldId id="284"/>
            <p14:sldId id="285"/>
          </p14:sldIdLst>
        </p14:section>
        <p14:section name="João Vargas" id="{C65ADF1D-582D-4322-A299-62F498DDF771}">
          <p14:sldIdLst>
            <p14:sldId id="279"/>
            <p14:sldId id="266"/>
            <p14:sldId id="267"/>
            <p14:sldId id="268"/>
            <p14:sldId id="269"/>
            <p14:sldId id="271"/>
            <p14:sldId id="270"/>
            <p14:sldId id="286"/>
            <p14:sldId id="287"/>
            <p14:sldId id="290"/>
          </p14:sldIdLst>
        </p14:section>
        <p14:section name="João Carapuça" id="{F9741556-1A1E-495A-A24C-E6EA2C19446F}">
          <p14:sldIdLst>
            <p14:sldId id="280"/>
            <p14:sldId id="272"/>
            <p14:sldId id="273"/>
            <p14:sldId id="274"/>
            <p14:sldId id="275"/>
            <p14:sldId id="276"/>
            <p14:sldId id="277"/>
            <p14:sldId id="291"/>
            <p14:sldId id="292"/>
            <p14:sldId id="293"/>
          </p14:sldIdLst>
        </p14:section>
        <p14:section name="Final" id="{E0110EDA-F2EA-4116-B4E1-643E86A00948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PT"/>
              <a:t>Clique para editar o estilo do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74248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91113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89711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6007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47594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70768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86884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1184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73511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4295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25153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90851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69848" y="1737360"/>
            <a:ext cx="6511359" cy="2816352"/>
          </a:xfrm>
        </p:spPr>
        <p:txBody>
          <a:bodyPr/>
          <a:lstStyle/>
          <a:p>
            <a:r>
              <a:rPr lang="pt-PT" b="1" dirty="0" smtClean="0"/>
              <a:t>Criação de </a:t>
            </a:r>
            <a:r>
              <a:rPr lang="pt-PT" b="1" dirty="0"/>
              <a:t>um Sistema </a:t>
            </a:r>
            <a:r>
              <a:rPr lang="pt-PT" b="1" dirty="0" smtClean="0"/>
              <a:t>Interativo: ApgarTrack</a:t>
            </a:r>
            <a:endParaRPr lang="pt-PT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PT" sz="1600" dirty="0"/>
              <a:t>João Carapuça, 27223, Eduardo Madeira, 26889 e João Vargas, 27224</a:t>
            </a:r>
          </a:p>
          <a:p>
            <a:r>
              <a:rPr lang="pt-PT" sz="1600" dirty="0"/>
              <a:t>Disciplina de Interação Pessoa-Computador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CC49160B-28C2-54C8-9EF0-3CD633D6C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823" y="292608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2119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Tema do projeto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69268" y="864108"/>
            <a:ext cx="3915715" cy="51507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dirty="0"/>
              <a:t>Criação de um programa que facilita o cálculo da Escala de </a:t>
            </a:r>
            <a:r>
              <a:rPr lang="pt-PT" i="1" dirty="0" err="1"/>
              <a:t>Apgar</a:t>
            </a:r>
            <a:r>
              <a:rPr lang="pt-PT" dirty="0"/>
              <a:t>, feito nos 1º e 5º minutos de vida.</a:t>
            </a:r>
          </a:p>
          <a:p>
            <a:pPr marL="0" indent="0">
              <a:buNone/>
            </a:pPr>
            <a:r>
              <a:rPr lang="pt-PT" dirty="0"/>
              <a:t>Os utilizadores:</a:t>
            </a:r>
            <a:endParaRPr lang="pt-PT" i="1" dirty="0"/>
          </a:p>
          <a:p>
            <a:r>
              <a:rPr lang="pt-PT" dirty="0"/>
              <a:t>Devem saber como usar um dispositivo </a:t>
            </a:r>
            <a:r>
              <a:rPr lang="pt-PT" i="1" dirty="0" err="1"/>
              <a:t>Android</a:t>
            </a:r>
            <a:r>
              <a:rPr lang="pt-PT" i="1" dirty="0"/>
              <a:t>;</a:t>
            </a:r>
            <a:endParaRPr lang="pt-PT" dirty="0"/>
          </a:p>
          <a:p>
            <a:r>
              <a:rPr lang="pt-PT" dirty="0"/>
              <a:t>Compreender o básico da escala</a:t>
            </a:r>
            <a:r>
              <a:rPr lang="pt-PT" dirty="0" smtClean="0"/>
              <a:t>.</a:t>
            </a:r>
            <a:endParaRPr lang="pt-PT" dirty="0"/>
          </a:p>
          <a:p>
            <a:pPr marL="0" indent="0">
              <a:buNone/>
            </a:pPr>
            <a:r>
              <a:rPr lang="pt-PT" dirty="0"/>
              <a:t>Organizado no </a:t>
            </a:r>
            <a:r>
              <a:rPr lang="pt-PT" i="1" dirty="0" err="1"/>
              <a:t>Notion</a:t>
            </a:r>
            <a:r>
              <a:rPr lang="pt-PT" dirty="0"/>
              <a:t>, metodologia </a:t>
            </a:r>
            <a:r>
              <a:rPr lang="pt-PT" i="1" dirty="0" err="1"/>
              <a:t>Scrum</a:t>
            </a:r>
            <a:r>
              <a:rPr lang="pt-PT" dirty="0"/>
              <a:t> </a:t>
            </a:r>
            <a:r>
              <a:rPr lang="pt-PT" dirty="0">
                <a:solidFill>
                  <a:schemeClr val="bg2">
                    <a:lumMod val="75000"/>
                  </a:schemeClr>
                </a:solidFill>
              </a:rPr>
              <a:t>(tarefas, progresso, sprints, épicos, artefactos</a:t>
            </a:r>
            <a:r>
              <a:rPr lang="pt-PT" dirty="0" smtClean="0">
                <a:solidFill>
                  <a:schemeClr val="bg2">
                    <a:lumMod val="75000"/>
                  </a:schemeClr>
                </a:solidFill>
              </a:rPr>
              <a:t>).</a:t>
            </a:r>
          </a:p>
          <a:p>
            <a:pPr marL="0" indent="0">
              <a:buNone/>
            </a:pPr>
            <a:r>
              <a:rPr lang="pt-PT" dirty="0" smtClean="0"/>
              <a:t>Perto do final, organizado através do GitHub </a:t>
            </a:r>
            <a:r>
              <a:rPr lang="pt-PT" dirty="0" smtClean="0">
                <a:solidFill>
                  <a:schemeClr val="bg2">
                    <a:lumMod val="75000"/>
                  </a:schemeClr>
                </a:solidFill>
              </a:rPr>
              <a:t>(partilha do código e relatório).</a:t>
            </a:r>
            <a:endParaRPr lang="pt-PT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026" name="Picture 2" descr="Pontuação APGAR Pediátrica Paramédica - Etsy Portuga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683" y="1603386"/>
            <a:ext cx="2756017" cy="36722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B064C697-6019-7D1E-3F78-84A4E2A20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5554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Estilo e dispositivos de interação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69268" y="864108"/>
            <a:ext cx="4379382" cy="5120640"/>
          </a:xfrm>
        </p:spPr>
        <p:txBody>
          <a:bodyPr/>
          <a:lstStyle/>
          <a:p>
            <a:r>
              <a:rPr lang="pt-PT" dirty="0"/>
              <a:t>Formulários simples;</a:t>
            </a:r>
          </a:p>
          <a:p>
            <a:r>
              <a:rPr lang="pt-PT" dirty="0"/>
              <a:t>Ecrã tátil </a:t>
            </a:r>
            <a:r>
              <a:rPr lang="pt-PT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pt-PT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Android</a:t>
            </a:r>
            <a:r>
              <a:rPr lang="pt-PT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pt-PT" dirty="0"/>
              <a:t>;</a:t>
            </a:r>
          </a:p>
          <a:p>
            <a:r>
              <a:rPr lang="pt-PT" dirty="0"/>
              <a:t>Contexto de pressão e necessidade de respostas rápidas;</a:t>
            </a:r>
          </a:p>
          <a:p>
            <a:r>
              <a:rPr lang="pt-PT" b="1" dirty="0"/>
              <a:t>Cores base: </a:t>
            </a:r>
            <a:r>
              <a:rPr lang="pt-PT" dirty="0"/>
              <a:t>Azul e branco;</a:t>
            </a:r>
          </a:p>
          <a:p>
            <a:r>
              <a:rPr lang="pt-PT" b="1" dirty="0"/>
              <a:t>Cores de estado: </a:t>
            </a:r>
            <a:r>
              <a:rPr lang="pt-PT" dirty="0"/>
              <a:t>Verde, amarelo e vermelho;</a:t>
            </a:r>
            <a:endParaRPr lang="pt-PT" b="1" dirty="0"/>
          </a:p>
        </p:txBody>
      </p:sp>
      <p:pic>
        <p:nvPicPr>
          <p:cNvPr id="4098" name="Picture 2" descr="Ícones De Emojis Sorridentes Vermelhos, Amarelos E Verdes, Negativos,  Neutros E Positivos, Diferentes Estados De Espírito. Design Ilustração  Stock - Ilustração de resposta, positivo: 1461165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1307" y="3646903"/>
            <a:ext cx="2937268" cy="207811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100" name="Picture 4" descr="Estetoscópio Azul Isolado Em Dispositivo Médico De Fundo Branco Para  Cuidados De Saúde E Diagnóstico Ilustração Stock - Ilustração de  equipamento, fundo: 37973704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316" y="864108"/>
            <a:ext cx="2381250" cy="23812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9CCE53D1-9612-4A13-3204-4035DE1EC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1074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Sistema Semelhante</a:t>
            </a:r>
          </a:p>
        </p:txBody>
      </p:sp>
      <p:pic>
        <p:nvPicPr>
          <p:cNvPr id="6" name="Marcador de Posição de Conteúdo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005691" y="868680"/>
            <a:ext cx="2420276" cy="51212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677218" y="864108"/>
            <a:ext cx="4874422" cy="5120640"/>
          </a:xfrm>
        </p:spPr>
        <p:txBody>
          <a:bodyPr/>
          <a:lstStyle/>
          <a:p>
            <a:pPr marL="0" indent="0">
              <a:buNone/>
            </a:pPr>
            <a:r>
              <a:rPr lang="pt-PT" b="1" dirty="0"/>
              <a:t>Positivo:</a:t>
            </a:r>
          </a:p>
          <a:p>
            <a:r>
              <a:rPr lang="pt-PT" dirty="0"/>
              <a:t>Estrutura simples;</a:t>
            </a:r>
          </a:p>
          <a:p>
            <a:r>
              <a:rPr lang="pt-PT" dirty="0"/>
              <a:t>Conteúdo dos botões claro;</a:t>
            </a:r>
          </a:p>
          <a:p>
            <a:pPr marL="0" indent="0">
              <a:buNone/>
            </a:pPr>
            <a:r>
              <a:rPr lang="pt-PT" b="1" dirty="0"/>
              <a:t>Negativo:</a:t>
            </a:r>
          </a:p>
          <a:p>
            <a:r>
              <a:rPr lang="pt-PT" dirty="0"/>
              <a:t>Desenvolvido em espanhol;</a:t>
            </a:r>
          </a:p>
          <a:p>
            <a:r>
              <a:rPr lang="pt-PT" dirty="0"/>
              <a:t>Resultado não é óbvio o suficiente;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9C27186F-0F9D-1D4C-73F0-89D612199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5238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Caracterização do utilizador </a:t>
            </a:r>
            <a:r>
              <a:rPr lang="pt-PT" i="1" dirty="0"/>
              <a:t>(persona)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3867911" y="895350"/>
            <a:ext cx="7514463" cy="5058946"/>
          </a:xfrm>
        </p:spPr>
        <p:txBody>
          <a:bodyPr/>
          <a:lstStyle/>
          <a:p>
            <a:pPr marL="0" indent="0">
              <a:buNone/>
            </a:pPr>
            <a:r>
              <a:rPr lang="pt-PT" b="1" dirty="0"/>
              <a:t>Parteira Joana Mendes</a:t>
            </a:r>
          </a:p>
          <a:p>
            <a:r>
              <a:rPr lang="pt-PT" dirty="0"/>
              <a:t>29 anos, Enfermagem de Saúde Materna e Obstétrica </a:t>
            </a:r>
            <a:r>
              <a:rPr lang="pt-PT" dirty="0">
                <a:solidFill>
                  <a:schemeClr val="bg2">
                    <a:lumMod val="75000"/>
                  </a:schemeClr>
                </a:solidFill>
              </a:rPr>
              <a:t>(Universidade de Évora)</a:t>
            </a:r>
            <a:r>
              <a:rPr lang="pt-PT" dirty="0"/>
              <a:t>;</a:t>
            </a:r>
            <a:endParaRPr lang="pt-PT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pt-PT" dirty="0"/>
              <a:t>Experiência em tecnologia;</a:t>
            </a:r>
          </a:p>
          <a:p>
            <a:r>
              <a:rPr lang="pt-PT" dirty="0"/>
              <a:t>1º minuto;</a:t>
            </a:r>
          </a:p>
          <a:p>
            <a:r>
              <a:rPr lang="pt-PT" u="sng" dirty="0"/>
              <a:t>Pequeno alcance e pouco </a:t>
            </a:r>
            <a:r>
              <a:rPr lang="pt-PT" u="sng" dirty="0" smtClean="0"/>
              <a:t>equipamento</a:t>
            </a:r>
            <a:r>
              <a:rPr lang="pt-PT" dirty="0" smtClean="0"/>
              <a:t>: importante;</a:t>
            </a:r>
            <a:endParaRPr lang="pt-PT" dirty="0"/>
          </a:p>
          <a:p>
            <a:pPr marL="0" indent="0">
              <a:buNone/>
            </a:pPr>
            <a:r>
              <a:rPr lang="pt-PT" b="1" dirty="0"/>
              <a:t>Contato</a:t>
            </a:r>
          </a:p>
          <a:p>
            <a:r>
              <a:rPr lang="pt-PT" dirty="0"/>
              <a:t>Entrevista direta;</a:t>
            </a:r>
          </a:p>
          <a:p>
            <a:r>
              <a:rPr lang="pt-PT" dirty="0"/>
              <a:t>Observação em contexto clínico</a:t>
            </a:r>
            <a:r>
              <a:rPr lang="pt-PT" dirty="0" smtClean="0"/>
              <a:t>.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24D21A55-7876-FFAC-7F9F-4D528A910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3585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Cenário de utilização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69268" y="864107"/>
            <a:ext cx="7560732" cy="5146167"/>
          </a:xfrm>
        </p:spPr>
        <p:txBody>
          <a:bodyPr/>
          <a:lstStyle/>
          <a:p>
            <a:r>
              <a:rPr lang="pt-PT" b="1" dirty="0"/>
              <a:t>Utilizador:</a:t>
            </a:r>
            <a:r>
              <a:rPr lang="pt-PT" dirty="0"/>
              <a:t> </a:t>
            </a:r>
            <a:r>
              <a:rPr lang="pt-PT" dirty="0"/>
              <a:t>p</a:t>
            </a:r>
            <a:r>
              <a:rPr lang="pt-PT" dirty="0" smtClean="0"/>
              <a:t>arteira</a:t>
            </a:r>
            <a:endParaRPr lang="pt-PT" dirty="0"/>
          </a:p>
          <a:p>
            <a:r>
              <a:rPr lang="pt-PT" b="1" dirty="0"/>
              <a:t>Tarefa:</a:t>
            </a:r>
            <a:r>
              <a:rPr lang="pt-PT" dirty="0"/>
              <a:t> realizar uma avaliação </a:t>
            </a:r>
            <a:r>
              <a:rPr lang="pt-PT" dirty="0" err="1"/>
              <a:t>Apgar</a:t>
            </a:r>
            <a:r>
              <a:rPr lang="pt-PT" dirty="0"/>
              <a:t> </a:t>
            </a:r>
            <a:r>
              <a:rPr lang="pt-PT" dirty="0" smtClean="0"/>
              <a:t>na aplicação.</a:t>
            </a:r>
          </a:p>
          <a:p>
            <a:r>
              <a:rPr lang="pt-PT" b="1" dirty="0" smtClean="0"/>
              <a:t>Ação </a:t>
            </a:r>
            <a:r>
              <a:rPr lang="pt-PT" b="1" dirty="0"/>
              <a:t>na </a:t>
            </a:r>
            <a:r>
              <a:rPr lang="pt-PT" b="1" dirty="0" err="1"/>
              <a:t>App</a:t>
            </a:r>
            <a:r>
              <a:rPr lang="pt-PT" b="1" dirty="0"/>
              <a:t>:</a:t>
            </a:r>
            <a:r>
              <a:rPr lang="pt-PT" dirty="0"/>
              <a:t> o utilizador entra na área de </a:t>
            </a:r>
            <a:r>
              <a:rPr lang="pt-PT" dirty="0" smtClean="0"/>
              <a:t>avaliação e seleciona </a:t>
            </a:r>
            <a:r>
              <a:rPr lang="pt-PT" dirty="0"/>
              <a:t>as opções </a:t>
            </a:r>
            <a:r>
              <a:rPr lang="pt-PT" dirty="0" smtClean="0"/>
              <a:t>correspondentes aos 5 parâmetros.</a:t>
            </a:r>
            <a:endParaRPr lang="pt-PT" dirty="0"/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0C84B645-B76C-B396-E1B4-CF9AFA4FE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930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de tarefas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69268" y="864107"/>
            <a:ext cx="3474507" cy="5146167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pt-PT" dirty="0"/>
              <a:t>Abrir a aplicação.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Aceder à funcionalidade de avaliação </a:t>
            </a:r>
            <a:r>
              <a:rPr lang="pt-PT" dirty="0" err="1"/>
              <a:t>Apgar</a:t>
            </a:r>
            <a:r>
              <a:rPr lang="pt-PT" dirty="0"/>
              <a:t>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Selecionar os parâmetros:</a:t>
            </a:r>
          </a:p>
          <a:p>
            <a:pPr marL="845820" lvl="1" indent="-342900">
              <a:buFont typeface="+mj-lt"/>
              <a:buAutoNum type="arabicPeriod"/>
            </a:pPr>
            <a:r>
              <a:rPr lang="pt-PT" dirty="0"/>
              <a:t>Selecionar a cor da pele.</a:t>
            </a:r>
          </a:p>
          <a:p>
            <a:pPr marL="845820" lvl="1" indent="-342900">
              <a:buFont typeface="+mj-lt"/>
              <a:buAutoNum type="arabicPeriod"/>
            </a:pPr>
            <a:r>
              <a:rPr lang="pt-PT" dirty="0"/>
              <a:t>Selecionar a frequência cardíaca.</a:t>
            </a:r>
          </a:p>
          <a:p>
            <a:pPr marL="845820" lvl="1" indent="-342900">
              <a:buFont typeface="+mj-lt"/>
              <a:buAutoNum type="arabicPeriod"/>
            </a:pPr>
            <a:r>
              <a:rPr lang="pt-PT" dirty="0"/>
              <a:t>Selecionar a resposta a estímulos.</a:t>
            </a:r>
          </a:p>
          <a:p>
            <a:pPr marL="845820" lvl="1" indent="-342900">
              <a:buFont typeface="+mj-lt"/>
              <a:buAutoNum type="arabicPeriod"/>
            </a:pPr>
            <a:r>
              <a:rPr lang="pt-PT" dirty="0"/>
              <a:t>Selecionar o tónus muscular.</a:t>
            </a:r>
          </a:p>
          <a:p>
            <a:pPr marL="845820" lvl="1" indent="-342900">
              <a:buFont typeface="+mj-lt"/>
              <a:buAutoNum type="arabicPeriod"/>
            </a:pPr>
            <a:r>
              <a:rPr lang="pt-PT" dirty="0"/>
              <a:t>Selecionar a respiração.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Confirmar os dados introduzidos.</a:t>
            </a:r>
          </a:p>
        </p:txBody>
      </p:sp>
      <p:pic>
        <p:nvPicPr>
          <p:cNvPr id="2050" name="Picture 2" descr="Análise hierárquica de tarefas: Entendendo como os usuários atingem seus  objetivos - UX24/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096" y="2310003"/>
            <a:ext cx="3803904" cy="22288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17B8A1A5-4A4B-A691-0DD7-8CC9CE18C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8209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(baixa fidelidade)</a:t>
            </a:r>
          </a:p>
        </p:txBody>
      </p:sp>
      <p:pic>
        <p:nvPicPr>
          <p:cNvPr id="7" name="Imagem 6"/>
          <p:cNvPicPr/>
          <p:nvPr/>
        </p:nvPicPr>
        <p:blipFill>
          <a:blip r:embed="rId2"/>
          <a:stretch>
            <a:fillRect/>
          </a:stretch>
        </p:blipFill>
        <p:spPr>
          <a:xfrm>
            <a:off x="4693389" y="1739170"/>
            <a:ext cx="5780408" cy="33705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85EF068A-F9B7-76D9-E071-197AD2FCD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863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/>
          <p:nvPr/>
        </p:nvPicPr>
        <p:blipFill>
          <a:blip r:embed="rId2"/>
          <a:stretch>
            <a:fillRect/>
          </a:stretch>
        </p:blipFill>
        <p:spPr>
          <a:xfrm>
            <a:off x="3839881" y="1305576"/>
            <a:ext cx="7533797" cy="42377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(média fidelidade)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0212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 (diagrama e princípios)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69268" y="3295650"/>
            <a:ext cx="7494057" cy="2714624"/>
          </a:xfrm>
        </p:spPr>
        <p:txBody>
          <a:bodyPr>
            <a:normAutofit/>
          </a:bodyPr>
          <a:lstStyle/>
          <a:p>
            <a:pPr lvl="0"/>
            <a:r>
              <a:rPr lang="pt-PT" u="sng" dirty="0"/>
              <a:t>R1: Manter a consistência:</a:t>
            </a:r>
            <a:r>
              <a:rPr lang="pt-PT" dirty="0"/>
              <a:t> mesmas cores, texto e aparência.</a:t>
            </a:r>
          </a:p>
          <a:p>
            <a:pPr lvl="0"/>
            <a:r>
              <a:rPr lang="pt-PT" u="sng" dirty="0"/>
              <a:t>R2: Permitir atalhos aos utilizadores frequentes:</a:t>
            </a:r>
            <a:r>
              <a:rPr lang="pt-PT" dirty="0"/>
              <a:t> É possível voltar para a </a:t>
            </a:r>
            <a:r>
              <a:rPr lang="pt-PT" i="1" dirty="0"/>
              <a:t>homepage</a:t>
            </a:r>
            <a:r>
              <a:rPr lang="pt-PT" dirty="0"/>
              <a:t> a qualquer momento.</a:t>
            </a:r>
          </a:p>
          <a:p>
            <a:pPr lvl="0"/>
            <a:r>
              <a:rPr lang="pt-PT" u="sng" dirty="0"/>
              <a:t>R3: Oferecer feedback informativo:</a:t>
            </a:r>
            <a:r>
              <a:rPr lang="pt-PT" dirty="0"/>
              <a:t> cores claras que demonstram a importância dos resultados.</a:t>
            </a:r>
          </a:p>
        </p:txBody>
      </p:sp>
      <p:pic>
        <p:nvPicPr>
          <p:cNvPr id="6" name="Imagem 5" descr="C:\Users\Dudu\AppData\Local\Microsoft\Windows\INetCache\Content.MSO\4BAF249F.tmp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142" y="1123837"/>
            <a:ext cx="7008308" cy="19804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50ABDA9A-F0A7-B34A-F6C6-8EF816DF8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9903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 smtClean="0"/>
              <a:t>(alta fidelidade)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103" y="184653"/>
            <a:ext cx="2915797" cy="64795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416" y="184653"/>
            <a:ext cx="2915797" cy="64795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4414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 smtClean="0"/>
              <a:t>Código das funcionalidades implementadas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5"/>
          <p:cNvPicPr/>
          <p:nvPr/>
        </p:nvPicPr>
        <p:blipFill>
          <a:blip r:embed="rId3"/>
          <a:stretch>
            <a:fillRect/>
          </a:stretch>
        </p:blipFill>
        <p:spPr>
          <a:xfrm>
            <a:off x="4085014" y="1282573"/>
            <a:ext cx="4579620" cy="21418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agem 6"/>
          <p:cNvPicPr/>
          <p:nvPr/>
        </p:nvPicPr>
        <p:blipFill>
          <a:blip r:embed="rId4"/>
          <a:stretch>
            <a:fillRect/>
          </a:stretch>
        </p:blipFill>
        <p:spPr>
          <a:xfrm>
            <a:off x="5692834" y="3578906"/>
            <a:ext cx="5943600" cy="19354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0438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 smtClean="0"/>
              <a:t>Código das funcionalidades implementadas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m 8"/>
          <p:cNvPicPr/>
          <p:nvPr/>
        </p:nvPicPr>
        <p:blipFill>
          <a:blip r:embed="rId3"/>
          <a:stretch>
            <a:fillRect/>
          </a:stretch>
        </p:blipFill>
        <p:spPr>
          <a:xfrm>
            <a:off x="4784379" y="145473"/>
            <a:ext cx="5498464" cy="65656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2721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 smtClean="0"/>
              <a:t>Código das funcionalidades implementadas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4"/>
          <p:cNvPicPr/>
          <p:nvPr/>
        </p:nvPicPr>
        <p:blipFill>
          <a:blip r:embed="rId3"/>
          <a:stretch>
            <a:fillRect/>
          </a:stretch>
        </p:blipFill>
        <p:spPr>
          <a:xfrm>
            <a:off x="4258961" y="291497"/>
            <a:ext cx="5791127" cy="57269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Imagem 5"/>
          <p:cNvPicPr/>
          <p:nvPr/>
        </p:nvPicPr>
        <p:blipFill>
          <a:blip r:embed="rId4"/>
          <a:stretch>
            <a:fillRect/>
          </a:stretch>
        </p:blipFill>
        <p:spPr>
          <a:xfrm>
            <a:off x="7755558" y="4442089"/>
            <a:ext cx="3225771" cy="21415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7646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 smtClean="0"/>
              <a:t>Avaliação do protótipo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3582784" y="1376363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Por fazer</a:t>
            </a:r>
            <a:endParaRPr lang="pt-PT" sz="4000" dirty="0"/>
          </a:p>
        </p:txBody>
      </p:sp>
    </p:spTree>
    <p:extLst>
      <p:ext uri="{BB962C8B-B14F-4D97-AF65-F5344CB8AC3E}">
        <p14:creationId xmlns:p14="http://schemas.microsoft.com/office/powerpoint/2010/main" val="2334648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ED8B-AEA3-35D7-295F-BE5D543ED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Sistema Semelhante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F2383-CBD4-E151-A7BD-04671F0BA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A MDCalc foi selecionada para esta análise por ser considerada a ferramenta de referência para profissionais de saúde a nível mundial, servindo de base para a lógica de cálculo da nossa aplicação, a ApgarTrack.</a:t>
            </a:r>
          </a:p>
          <a:p>
            <a:r>
              <a:rPr lang="pt-PT" b="1" dirty="0"/>
              <a:t>Pontos Positivos:</a:t>
            </a:r>
          </a:p>
          <a:p>
            <a:r>
              <a:rPr lang="pt-PT" dirty="0"/>
              <a:t>Precisão e Rigor Clínico</a:t>
            </a:r>
          </a:p>
          <a:p>
            <a:r>
              <a:rPr lang="pt-PT" dirty="0"/>
              <a:t>Minimização da Carga Cognitiva</a:t>
            </a:r>
          </a:p>
          <a:p>
            <a:r>
              <a:rPr lang="pt-PT" b="1" dirty="0"/>
              <a:t>Pontos Negativos:</a:t>
            </a:r>
            <a:endParaRPr lang="pt-PT" dirty="0"/>
          </a:p>
          <a:p>
            <a:r>
              <a:rPr lang="pt-PT" dirty="0"/>
              <a:t>Navegação de Retorno Deficiente</a:t>
            </a:r>
          </a:p>
          <a:p>
            <a:r>
              <a:rPr lang="pt-PT" dirty="0"/>
              <a:t>Falta de Alternância de Fluxo</a:t>
            </a:r>
          </a:p>
          <a:p>
            <a:endParaRPr lang="pt-PT" dirty="0"/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6A0CE2E-875E-77F8-FDB0-C0D1ED0D6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Por alterar</a:t>
            </a:r>
            <a:endParaRPr lang="pt-PT" sz="4000" dirty="0"/>
          </a:p>
        </p:txBody>
      </p:sp>
    </p:spTree>
    <p:extLst>
      <p:ext uri="{BB962C8B-B14F-4D97-AF65-F5344CB8AC3E}">
        <p14:creationId xmlns:p14="http://schemas.microsoft.com/office/powerpoint/2010/main" val="1158237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5EAC4-78A4-7556-7BEF-9C99D94BC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Caracterização do utilizador </a:t>
            </a:r>
            <a:r>
              <a:rPr lang="pt-PT" i="1" dirty="0"/>
              <a:t>(persona)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4956E-6916-1B76-42A6-C8ACCC617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/>
          </a:p>
          <a:p>
            <a:r>
              <a:rPr lang="pt-PT" b="1" dirty="0"/>
              <a:t>Ana Paula,  Enfermeira  Especialista no bloco de partos do Hospital de Beja.</a:t>
            </a:r>
          </a:p>
          <a:p>
            <a:r>
              <a:rPr lang="pt-PT" dirty="0"/>
              <a:t>42 anos, concluiu a Licenciatura em Enfermagem com Especialização em Saúde Materna e Obstetrícia.</a:t>
            </a:r>
          </a:p>
          <a:p>
            <a:r>
              <a:rPr lang="pt-PT" dirty="0"/>
              <a:t>Utilizadora avançada de smartphones (Android), </a:t>
            </a:r>
          </a:p>
          <a:p>
            <a:r>
              <a:rPr lang="pt-PT" dirty="0"/>
              <a:t>Atua em blocos de partos onde a iluminação é forte e o ruído de equipamentos médicos é constante.</a:t>
            </a:r>
          </a:p>
          <a:p>
            <a:r>
              <a:rPr lang="pt-PT" b="1" dirty="0"/>
              <a:t>Contato</a:t>
            </a:r>
          </a:p>
          <a:p>
            <a:r>
              <a:rPr lang="pt-PT" dirty="0"/>
              <a:t>Entrevistas semiestruturadas.</a:t>
            </a:r>
          </a:p>
          <a:p>
            <a:r>
              <a:rPr lang="pt-PT" dirty="0"/>
              <a:t>Observação em contexto clínico real.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785777F5-F718-0901-4784-F6D4CF786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Por alterar</a:t>
            </a:r>
            <a:endParaRPr lang="pt-PT" sz="4000" dirty="0"/>
          </a:p>
        </p:txBody>
      </p:sp>
    </p:spTree>
    <p:extLst>
      <p:ext uri="{BB962C8B-B14F-4D97-AF65-F5344CB8AC3E}">
        <p14:creationId xmlns:p14="http://schemas.microsoft.com/office/powerpoint/2010/main" val="1905167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81E5F-24F9-3743-8DCB-50EE7F610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Cenário de utilização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E9359-8EFA-A967-C28A-1A97C6389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b="1" dirty="0"/>
              <a:t>Utilizador:</a:t>
            </a:r>
            <a:r>
              <a:rPr lang="pt-PT" dirty="0"/>
              <a:t> Enfermeira especialista.</a:t>
            </a:r>
          </a:p>
          <a:p>
            <a:r>
              <a:rPr lang="pt-PT" b="1" dirty="0"/>
              <a:t>Tarefa: </a:t>
            </a:r>
            <a:r>
              <a:rPr lang="pt-PT" dirty="0"/>
              <a:t>Consultar os resultados já registados na aplicação e comparar as pontuações obtidas nas diferentes avaliações.</a:t>
            </a:r>
          </a:p>
          <a:p>
            <a:r>
              <a:rPr lang="pt-PT" b="1" dirty="0"/>
              <a:t>Ação na </a:t>
            </a:r>
            <a:r>
              <a:rPr lang="pt-PT" b="1" dirty="0" err="1"/>
              <a:t>App</a:t>
            </a:r>
            <a:r>
              <a:rPr lang="pt-PT" b="1" dirty="0"/>
              <a:t>: </a:t>
            </a:r>
            <a:r>
              <a:rPr lang="pt-PT" dirty="0"/>
              <a:t>O utilizador acede à secção </a:t>
            </a:r>
            <a:r>
              <a:rPr lang="pt-PT" dirty="0" smtClean="0"/>
              <a:t>“Ver resultados”, </a:t>
            </a:r>
            <a:r>
              <a:rPr lang="pt-PT" dirty="0"/>
              <a:t>identifica os valores registados anteriormente e compara a evolução das pontuações.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6B1D0659-9E76-5F35-E6A9-23E23B58B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Por alterar</a:t>
            </a:r>
            <a:endParaRPr lang="pt-PT" sz="4000" dirty="0"/>
          </a:p>
        </p:txBody>
      </p:sp>
    </p:spTree>
    <p:extLst>
      <p:ext uri="{BB962C8B-B14F-4D97-AF65-F5344CB8AC3E}">
        <p14:creationId xmlns:p14="http://schemas.microsoft.com/office/powerpoint/2010/main" val="1218997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AF547-F146-BC93-17AE-682EFFFBB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de tarefas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4483D-AB25-F5A6-E469-0C12D3CE0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pt-PT" dirty="0"/>
              <a:t>Abrir a aplicação.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Aceder à opção “Ver resultados”.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Identificar os resultados disponíveis.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Localizar a avaliação do 1º minuto.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Localizar a avaliação do 5º minuto.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Localizar a avaliação do 10º minuto, caso exista.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Comparar os resultados apresentados.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Verificar se a pontuação aumentou, diminui ou se manteve.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Identificar o momento em que ocorreu a maior alteração.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Tirar uma conclusão sobre a evolução do recém-nascido</a:t>
            </a:r>
            <a:r>
              <a:rPr lang="pt-PT" dirty="0" smtClean="0"/>
              <a:t>.</a:t>
            </a:r>
            <a:endParaRPr lang="pt-PT" dirty="0"/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809AA4CD-5E36-4484-E787-75A26D95A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Verificar</a:t>
            </a:r>
            <a:endParaRPr lang="pt-PT" sz="4000" dirty="0"/>
          </a:p>
        </p:txBody>
      </p:sp>
    </p:spTree>
    <p:extLst>
      <p:ext uri="{BB962C8B-B14F-4D97-AF65-F5344CB8AC3E}">
        <p14:creationId xmlns:p14="http://schemas.microsoft.com/office/powerpoint/2010/main" val="2323639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F1124-7ADB-C24E-D565-B428D075B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(baixa fidelidade)</a:t>
            </a:r>
          </a:p>
        </p:txBody>
      </p:sp>
      <p:pic>
        <p:nvPicPr>
          <p:cNvPr id="5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CA2DAEE9-D7E9-F2E4-249A-8DCA06651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8" name="CaixaDeTexto 7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Por fazer</a:t>
            </a:r>
            <a:endParaRPr lang="pt-PT" sz="4000" dirty="0"/>
          </a:p>
        </p:txBody>
      </p:sp>
    </p:spTree>
    <p:extLst>
      <p:ext uri="{BB962C8B-B14F-4D97-AF65-F5344CB8AC3E}">
        <p14:creationId xmlns:p14="http://schemas.microsoft.com/office/powerpoint/2010/main" val="2920007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34F38-3B7B-2807-5DC5-E8D4729F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(média fidelidade)</a:t>
            </a:r>
          </a:p>
        </p:txBody>
      </p:sp>
      <p:pic>
        <p:nvPicPr>
          <p:cNvPr id="5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A3F06B81-B22F-CFEE-9956-9725F9BF6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Por fazer</a:t>
            </a:r>
            <a:endParaRPr lang="pt-PT" sz="4000" dirty="0"/>
          </a:p>
        </p:txBody>
      </p:sp>
    </p:spTree>
    <p:extLst>
      <p:ext uri="{BB962C8B-B14F-4D97-AF65-F5344CB8AC3E}">
        <p14:creationId xmlns:p14="http://schemas.microsoft.com/office/powerpoint/2010/main" val="2330933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1388-E552-A355-9D06-4CD4231EA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 (diagrama e princípios)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05F1F0-B768-CFBE-2A56-26045D705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dirty="0" smtClean="0">
                <a:ea typeface="Times New Roman" panose="02020603050405020304" pitchFamily="18" charset="0"/>
              </a:rPr>
              <a:t>Princípios aqui</a:t>
            </a:r>
            <a:endParaRPr lang="pt-PT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pt-PT" dirty="0"/>
          </a:p>
        </p:txBody>
      </p:sp>
      <p:pic>
        <p:nvPicPr>
          <p:cNvPr id="10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A580D545-DE46-080E-559E-83E3CC8C8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Por fazer</a:t>
            </a:r>
            <a:endParaRPr lang="pt-PT" sz="4000" dirty="0"/>
          </a:p>
        </p:txBody>
      </p:sp>
    </p:spTree>
    <p:extLst>
      <p:ext uri="{BB962C8B-B14F-4D97-AF65-F5344CB8AC3E}">
        <p14:creationId xmlns:p14="http://schemas.microsoft.com/office/powerpoint/2010/main" val="2209893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 smtClean="0"/>
              <a:t>(alta fidelidade)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582784" y="1376363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Por fazer</a:t>
            </a:r>
            <a:endParaRPr lang="pt-PT" sz="4000" dirty="0"/>
          </a:p>
        </p:txBody>
      </p:sp>
    </p:spTree>
    <p:extLst>
      <p:ext uri="{BB962C8B-B14F-4D97-AF65-F5344CB8AC3E}">
        <p14:creationId xmlns:p14="http://schemas.microsoft.com/office/powerpoint/2010/main" val="12214343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 smtClean="0"/>
              <a:t>Código das funcionalidades implementadas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3582784" y="1376363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Por fazer</a:t>
            </a:r>
            <a:endParaRPr lang="pt-PT" sz="4000" dirty="0"/>
          </a:p>
        </p:txBody>
      </p:sp>
    </p:spTree>
    <p:extLst>
      <p:ext uri="{BB962C8B-B14F-4D97-AF65-F5344CB8AC3E}">
        <p14:creationId xmlns:p14="http://schemas.microsoft.com/office/powerpoint/2010/main" val="2577005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 smtClean="0"/>
              <a:t>Avaliação do protótipo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3582784" y="1376363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Por fazer</a:t>
            </a:r>
            <a:endParaRPr lang="pt-PT" sz="4000" dirty="0"/>
          </a:p>
        </p:txBody>
      </p:sp>
    </p:spTree>
    <p:extLst>
      <p:ext uri="{BB962C8B-B14F-4D97-AF65-F5344CB8AC3E}">
        <p14:creationId xmlns:p14="http://schemas.microsoft.com/office/powerpoint/2010/main" val="23023850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F7179-6614-F74A-4295-349E4926E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Sistema Semelhante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A9FA4-AFC3-DD5E-5E5C-B49E74617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/>
              <a:t>Omni calculator</a:t>
            </a:r>
          </a:p>
          <a:p>
            <a:r>
              <a:rPr lang="pt-PT" dirty="0"/>
              <a:t>Este sistema semelhante é uma plataforma online que disponibiliza múltiplas ferramentas de cálculo em diversas áreas, incluindo saúde.</a:t>
            </a:r>
          </a:p>
          <a:p>
            <a:r>
              <a:rPr lang="pt-PT" b="1" dirty="0"/>
              <a:t>Pontos positivos:</a:t>
            </a:r>
          </a:p>
          <a:p>
            <a:r>
              <a:rPr lang="pt-PT" dirty="0"/>
              <a:t>Explicações claras dos critérios do teste de Apgar</a:t>
            </a:r>
          </a:p>
          <a:p>
            <a:r>
              <a:rPr lang="pt-PT" dirty="0"/>
              <a:t> Apresentação dos resultados com intervalos de score e interpretação, fornecendo feedback imediato e compreensível;</a:t>
            </a:r>
          </a:p>
          <a:p>
            <a:r>
              <a:rPr lang="pt-PT" b="1" dirty="0"/>
              <a:t>Pontos negativos:</a:t>
            </a:r>
          </a:p>
          <a:p>
            <a:r>
              <a:rPr lang="pt-PT" dirty="0"/>
              <a:t>Ausência de exemplos clínicos reais, limitando a aplicação prática da interface;</a:t>
            </a:r>
          </a:p>
          <a:p>
            <a:r>
              <a:rPr lang="pt-PT" dirty="0"/>
              <a:t>Pouca integração visível com guidelines médicas, reduzindo a credibilidade percebida;</a:t>
            </a:r>
          </a:p>
          <a:p>
            <a:endParaRPr lang="pt-PT" dirty="0"/>
          </a:p>
          <a:p>
            <a:endParaRPr lang="pt-PT" b="1" dirty="0"/>
          </a:p>
          <a:p>
            <a:endParaRPr lang="pt-PT" dirty="0"/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E7F92193-8BB9-AECB-5936-38AF33B69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707475" y="5984748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Por alterar</a:t>
            </a:r>
            <a:endParaRPr lang="pt-PT" sz="4000" dirty="0"/>
          </a:p>
        </p:txBody>
      </p:sp>
    </p:spTree>
    <p:extLst>
      <p:ext uri="{BB962C8B-B14F-4D97-AF65-F5344CB8AC3E}">
        <p14:creationId xmlns:p14="http://schemas.microsoft.com/office/powerpoint/2010/main" val="4723535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E6F49-BE9E-F6EC-0B82-FDAD8A2C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Caracterização do utilizador </a:t>
            </a:r>
            <a:r>
              <a:rPr lang="pt-PT" i="1" dirty="0"/>
              <a:t>(persona)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5A846-DF77-A337-2A99-2CF713B37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PT" b="1" dirty="0"/>
          </a:p>
          <a:p>
            <a:endParaRPr lang="pt-PT" b="1" dirty="0"/>
          </a:p>
          <a:p>
            <a:r>
              <a:rPr lang="pt-PT" b="1" dirty="0"/>
              <a:t>Maria Maltez, 35 anos, médica pediatra, licenciada em Medicina pela Universidade do Porto.</a:t>
            </a:r>
          </a:p>
          <a:p>
            <a:endParaRPr lang="pt-PT" b="1" dirty="0"/>
          </a:p>
          <a:p>
            <a:r>
              <a:rPr lang="pt-PT" dirty="0"/>
              <a:t>Possui elevada literacia digital, utilizando regularmente sistemas hospitalares, aplicações clínicas e ferramentas de apoio à decisão</a:t>
            </a:r>
          </a:p>
          <a:p>
            <a:r>
              <a:rPr lang="pt-PT" dirty="0"/>
              <a:t>Atua diariamente em contextos críticos de sala de partos.</a:t>
            </a:r>
          </a:p>
          <a:p>
            <a:endParaRPr lang="pt-PT" dirty="0"/>
          </a:p>
          <a:p>
            <a:r>
              <a:rPr lang="pt-PT" b="1" dirty="0"/>
              <a:t>Contato</a:t>
            </a:r>
          </a:p>
          <a:p>
            <a:r>
              <a:rPr lang="pt-PT" dirty="0"/>
              <a:t>Entrevistas semiestruturadas.</a:t>
            </a:r>
          </a:p>
          <a:p>
            <a:r>
              <a:rPr lang="pt-PT" dirty="0"/>
              <a:t>Observação em contexto clínico real.</a:t>
            </a:r>
          </a:p>
          <a:p>
            <a:endParaRPr lang="pt-PT" b="1" dirty="0"/>
          </a:p>
          <a:p>
            <a:endParaRPr lang="pt-PT" b="1" dirty="0"/>
          </a:p>
        </p:txBody>
      </p:sp>
      <p:pic>
        <p:nvPicPr>
          <p:cNvPr id="6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819B095E-CE1C-9AA3-3BC5-C232AA562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Por alterar</a:t>
            </a:r>
            <a:endParaRPr lang="pt-PT" sz="4000" dirty="0"/>
          </a:p>
        </p:txBody>
      </p:sp>
    </p:spTree>
    <p:extLst>
      <p:ext uri="{BB962C8B-B14F-4D97-AF65-F5344CB8AC3E}">
        <p14:creationId xmlns:p14="http://schemas.microsoft.com/office/powerpoint/2010/main" val="626352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FEA07-7028-0D34-3B92-F114282D1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Cenário de utilização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41417-9F36-4E82-B1FC-D7825B9F8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b="1" dirty="0"/>
              <a:t>Tarefa: </a:t>
            </a:r>
            <a:r>
              <a:rPr lang="pt-PT" dirty="0"/>
              <a:t>Obter o resultado</a:t>
            </a:r>
          </a:p>
          <a:p>
            <a:pPr marL="0" indent="0">
              <a:buNone/>
            </a:pPr>
            <a:r>
              <a:rPr lang="pt-PT" b="1" dirty="0"/>
              <a:t>Ação: </a:t>
            </a:r>
            <a:r>
              <a:rPr lang="pt-PT" dirty="0"/>
              <a:t>Inserir os dados</a:t>
            </a:r>
          </a:p>
          <a:p>
            <a:r>
              <a:rPr lang="pt-PT" dirty="0"/>
              <a:t>Apresenta sinais de dificuldade respiratória </a:t>
            </a:r>
          </a:p>
          <a:p>
            <a:r>
              <a:rPr lang="pt-PT" dirty="0"/>
              <a:t> Baixa resposta inicial</a:t>
            </a:r>
          </a:p>
          <a:p>
            <a:r>
              <a:rPr lang="pt-PT" dirty="0"/>
              <a:t>Teste do 10º minuto</a:t>
            </a:r>
          </a:p>
          <a:p>
            <a:endParaRPr lang="pt-PT" dirty="0"/>
          </a:p>
        </p:txBody>
      </p:sp>
      <p:pic>
        <p:nvPicPr>
          <p:cNvPr id="6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3EA530F1-1013-FED0-596A-F1B91A1E1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Por alterar</a:t>
            </a:r>
            <a:endParaRPr lang="pt-PT" sz="4000" dirty="0"/>
          </a:p>
        </p:txBody>
      </p:sp>
    </p:spTree>
    <p:extLst>
      <p:ext uri="{BB962C8B-B14F-4D97-AF65-F5344CB8AC3E}">
        <p14:creationId xmlns:p14="http://schemas.microsoft.com/office/powerpoint/2010/main" val="30573484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7DD02-6908-C479-FFA4-1493F6127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de tarefas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7AE36-580A-5058-E124-B558CF5E6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PT" dirty="0"/>
              <a:t>Aceder à </a:t>
            </a:r>
            <a:r>
              <a:rPr lang="pt-PT" dirty="0" err="1"/>
              <a:t>app</a:t>
            </a:r>
            <a:r>
              <a:rPr lang="pt-PT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 smtClean="0"/>
              <a:t>Aceder </a:t>
            </a:r>
            <a:r>
              <a:rPr lang="pt-PT" dirty="0"/>
              <a:t>à lista de utentes.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 smtClean="0"/>
              <a:t>Verificar </a:t>
            </a:r>
            <a:r>
              <a:rPr lang="pt-PT" dirty="0"/>
              <a:t>a lista de utentes e quantas avaliações existem por utente.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 smtClean="0"/>
              <a:t>Selecionar </a:t>
            </a:r>
            <a:r>
              <a:rPr lang="pt-PT" dirty="0"/>
              <a:t>um utente.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 smtClean="0"/>
              <a:t>Consultar </a:t>
            </a:r>
            <a:r>
              <a:rPr lang="pt-PT" dirty="0"/>
              <a:t>as avaliações desse utente por ordem crescente de nº.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 smtClean="0"/>
              <a:t>Verificar </a:t>
            </a:r>
            <a:r>
              <a:rPr lang="pt-PT" dirty="0"/>
              <a:t>os parâmetros de cada avaliação </a:t>
            </a:r>
            <a:r>
              <a:rPr lang="pt-PT" dirty="0" err="1"/>
              <a:t>Apgar</a:t>
            </a:r>
            <a:r>
              <a:rPr lang="pt-PT" dirty="0" smtClean="0"/>
              <a:t>.</a:t>
            </a:r>
            <a:endParaRPr lang="pt-PT" dirty="0"/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54802900-566B-770F-E4EA-C43DF9235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Verificar</a:t>
            </a:r>
            <a:endParaRPr lang="pt-PT" sz="4000" dirty="0"/>
          </a:p>
        </p:txBody>
      </p:sp>
    </p:spTree>
    <p:extLst>
      <p:ext uri="{BB962C8B-B14F-4D97-AF65-F5344CB8AC3E}">
        <p14:creationId xmlns:p14="http://schemas.microsoft.com/office/powerpoint/2010/main" val="35642529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404D5-7E96-B90C-F49B-6AC684466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(baixa fidelidade)</a:t>
            </a:r>
          </a:p>
        </p:txBody>
      </p:sp>
      <p:pic>
        <p:nvPicPr>
          <p:cNvPr id="5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9499DC14-FB8F-6B18-3979-50663A50F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Por fazer</a:t>
            </a:r>
            <a:endParaRPr lang="pt-PT" sz="400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410064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87D2B-D86F-D050-FD6A-53993F1A1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(média fidelidade)</a:t>
            </a:r>
          </a:p>
        </p:txBody>
      </p:sp>
      <p:pic>
        <p:nvPicPr>
          <p:cNvPr id="6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8B86741D-C4ED-8506-5AB4-A21B44F59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CaixaDeTexto 10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Por fazer</a:t>
            </a:r>
            <a:endParaRPr lang="pt-PT" sz="4000" dirty="0"/>
          </a:p>
        </p:txBody>
      </p:sp>
    </p:spTree>
    <p:extLst>
      <p:ext uri="{BB962C8B-B14F-4D97-AF65-F5344CB8AC3E}">
        <p14:creationId xmlns:p14="http://schemas.microsoft.com/office/powerpoint/2010/main" val="29235457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C3C48-E33E-226F-6BA2-AB43ED09A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 (diagrama e princípios)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C14B1-00BC-5555-D7ED-51BD8CEAF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dirty="0" smtClean="0">
                <a:cs typeface="Times New Roman" panose="02020603050405020304" pitchFamily="18" charset="0"/>
              </a:rPr>
              <a:t>Princípios aqui</a:t>
            </a:r>
            <a:endParaRPr lang="pt-PT" dirty="0"/>
          </a:p>
          <a:p>
            <a:endParaRPr lang="pt-PT" dirty="0"/>
          </a:p>
        </p:txBody>
      </p:sp>
      <p:pic>
        <p:nvPicPr>
          <p:cNvPr id="8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286750F0-57FB-E070-49A3-CA1D63CBC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Por fazer</a:t>
            </a:r>
            <a:endParaRPr lang="pt-PT" sz="4000" dirty="0"/>
          </a:p>
        </p:txBody>
      </p:sp>
    </p:spTree>
    <p:extLst>
      <p:ext uri="{BB962C8B-B14F-4D97-AF65-F5344CB8AC3E}">
        <p14:creationId xmlns:p14="http://schemas.microsoft.com/office/powerpoint/2010/main" val="10084923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 smtClean="0"/>
              <a:t>(alta fidelidade)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582784" y="1376363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Por fazer</a:t>
            </a:r>
            <a:endParaRPr lang="pt-PT" sz="4000" dirty="0"/>
          </a:p>
        </p:txBody>
      </p:sp>
    </p:spTree>
    <p:extLst>
      <p:ext uri="{BB962C8B-B14F-4D97-AF65-F5344CB8AC3E}">
        <p14:creationId xmlns:p14="http://schemas.microsoft.com/office/powerpoint/2010/main" val="2277604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 smtClean="0"/>
              <a:t>Código das funcionalidades implementadas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3582784" y="1376363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Por fazer</a:t>
            </a:r>
            <a:endParaRPr lang="pt-PT" sz="4000" dirty="0"/>
          </a:p>
        </p:txBody>
      </p:sp>
    </p:spTree>
    <p:extLst>
      <p:ext uri="{BB962C8B-B14F-4D97-AF65-F5344CB8AC3E}">
        <p14:creationId xmlns:p14="http://schemas.microsoft.com/office/powerpoint/2010/main" val="23363034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 smtClean="0"/>
              <a:t>Avaliação do protótipo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3582784" y="1376363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 smtClean="0"/>
              <a:t>Por fazer</a:t>
            </a:r>
            <a:endParaRPr lang="pt-PT" sz="4000" dirty="0"/>
          </a:p>
        </p:txBody>
      </p:sp>
    </p:spTree>
    <p:extLst>
      <p:ext uri="{BB962C8B-B14F-4D97-AF65-F5344CB8AC3E}">
        <p14:creationId xmlns:p14="http://schemas.microsoft.com/office/powerpoint/2010/main" val="8452003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C474E-C061-0258-FD7E-6DEBF07CB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Fim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EC3FF-7AE8-FC8B-DBEB-869FAA792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37A755D2-241A-8A05-779A-7E36467A2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8994193"/>
      </p:ext>
    </p:extLst>
  </p:cSld>
  <p:clrMapOvr>
    <a:masterClrMapping/>
  </p:clrMapOvr>
</p:sld>
</file>

<file path=ppt/theme/theme1.xml><?xml version="1.0" encoding="utf-8"?>
<a:theme xmlns:a="http://schemas.openxmlformats.org/drawingml/2006/main" name="Moldura">
  <a:themeElements>
    <a:clrScheme name="Moldura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Moldura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oldura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TM03457475[[fn=Moldura]]</Template>
  <TotalTime>157</TotalTime>
  <Words>964</Words>
  <Application>Microsoft Office PowerPoint</Application>
  <PresentationFormat>Ecrã Panorâmico</PresentationFormat>
  <Paragraphs>176</Paragraphs>
  <Slides>36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36</vt:i4>
      </vt:variant>
    </vt:vector>
  </HeadingPairs>
  <TitlesOfParts>
    <vt:vector size="41" baseType="lpstr">
      <vt:lpstr>Corbel</vt:lpstr>
      <vt:lpstr>Symbol</vt:lpstr>
      <vt:lpstr>Times New Roman</vt:lpstr>
      <vt:lpstr>Wingdings 2</vt:lpstr>
      <vt:lpstr>Moldura</vt:lpstr>
      <vt:lpstr>Criação de um Sistema Interativo: ApgarTrack</vt:lpstr>
      <vt:lpstr>Tema do projeto</vt:lpstr>
      <vt:lpstr>Estilo e dispositivos de interação</vt:lpstr>
      <vt:lpstr>Sistema Semelhante</vt:lpstr>
      <vt:lpstr>Caracterização do utilizador (persona)</vt:lpstr>
      <vt:lpstr>Cenário de utilização</vt:lpstr>
      <vt:lpstr>Análise de tarefas</vt:lpstr>
      <vt:lpstr>Protótipos (baixa fidelidade)</vt:lpstr>
      <vt:lpstr>Protótipos (média fidelidade)</vt:lpstr>
      <vt:lpstr>Protótipos (diagrama e princípios)</vt:lpstr>
      <vt:lpstr>Protótipos (alta fidelidade)</vt:lpstr>
      <vt:lpstr>Código das funcionalidades implementadas</vt:lpstr>
      <vt:lpstr>Código das funcionalidades implementadas</vt:lpstr>
      <vt:lpstr>Código das funcionalidades implementadas</vt:lpstr>
      <vt:lpstr>Avaliação do protótipo</vt:lpstr>
      <vt:lpstr>Sistema Semelhante</vt:lpstr>
      <vt:lpstr>Caracterização do utilizador (persona)</vt:lpstr>
      <vt:lpstr>Cenário de utilização</vt:lpstr>
      <vt:lpstr>Análise de tarefas</vt:lpstr>
      <vt:lpstr>Protótipos (baixa fidelidade)</vt:lpstr>
      <vt:lpstr>Protótipos (média fidelidade)</vt:lpstr>
      <vt:lpstr>Protótipos (diagrama e princípios)</vt:lpstr>
      <vt:lpstr>Protótipos (alta fidelidade)</vt:lpstr>
      <vt:lpstr>Código das funcionalidades implementadas</vt:lpstr>
      <vt:lpstr>Avaliação do protótipo</vt:lpstr>
      <vt:lpstr>Sistema Semelhante</vt:lpstr>
      <vt:lpstr>Caracterização do utilizador (persona)</vt:lpstr>
      <vt:lpstr>Cenário de utilização</vt:lpstr>
      <vt:lpstr>Análise de tarefas</vt:lpstr>
      <vt:lpstr>Protótipos (baixa fidelidade)</vt:lpstr>
      <vt:lpstr>Protótipos (média fidelidade)</vt:lpstr>
      <vt:lpstr>Protótipos (diagrama e princípios)</vt:lpstr>
      <vt:lpstr>Protótipos (alta fidelidade)</vt:lpstr>
      <vt:lpstr>Código das funcionalidades implementadas</vt:lpstr>
      <vt:lpstr>Avaliação do protótipo</vt:lpstr>
      <vt:lpstr>Fim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e Desenho de um Sistema Interativo</dc:title>
  <dc:creator>joaopaulo@cm-mertola.pt</dc:creator>
  <cp:lastModifiedBy>Dudu</cp:lastModifiedBy>
  <cp:revision>16</cp:revision>
  <dcterms:created xsi:type="dcterms:W3CDTF">2026-05-05T09:48:41Z</dcterms:created>
  <dcterms:modified xsi:type="dcterms:W3CDTF">2026-06-25T18:00:49Z</dcterms:modified>
</cp:coreProperties>
</file>